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888778c1b84a34" /><Relationship Type="http://schemas.openxmlformats.org/officeDocument/2006/relationships/extended-properties" Target="/docProps/app.xml" Id="R90fe14c66abc4170" /><Relationship Type="http://schemas.openxmlformats.org/officeDocument/2006/relationships/officeDocument" Target="/ppt/presentation.xml" Id="Raac33fc50c2e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54cbdda15d400f"/>
  </p:sldMasterIdLst>
  <p:notesMasterIdLst>
    <p:notesMasterId xmlns:r="http://schemas.openxmlformats.org/officeDocument/2006/relationships" r:id="R981fceb161c64a38"/>
  </p:notesMasterIdLst>
  <p:sldIdLst>
    <p:sldId xmlns:r="http://schemas.openxmlformats.org/officeDocument/2006/relationships" id="256" r:id="Rd6a3c65f67364285"/>
    <p:sldId xmlns:r="http://schemas.openxmlformats.org/officeDocument/2006/relationships" id="257" r:id="R1d810a171e604e34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91a5548d744ee4" /><Relationship Type="http://schemas.openxmlformats.org/officeDocument/2006/relationships/slideMaster" Target="/ppt/slideMasters/slideMaster1.xml" Id="R8f54cbdda15d400f" /><Relationship Type="http://schemas.openxmlformats.org/officeDocument/2006/relationships/notesMaster" Target="/ppt/notesMasters/notesMaster1.xml" Id="R981fceb161c64a38" /><Relationship Type="http://schemas.openxmlformats.org/officeDocument/2006/relationships/presProps" Target="/ppt/presProps.xml" Id="Rf6b2c92a37924e1d" /><Relationship Type="http://schemas.openxmlformats.org/officeDocument/2006/relationships/tableStyles" Target="/ppt/tableStyles.xml" Id="R3919b0ec71ad4c8e" /><Relationship Type="http://schemas.openxmlformats.org/officeDocument/2006/relationships/slide" Target="/ppt/slides/slide1.xml" Id="Rd6a3c65f67364285" /><Relationship Type="http://schemas.openxmlformats.org/officeDocument/2006/relationships/slide" Target="/ppt/slides/slide2.xml" Id="R1d810a171e60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396f0222c41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7614f223b74798" /><Relationship Type="http://schemas.openxmlformats.org/officeDocument/2006/relationships/notesMaster" Target="/ppt/notesMasters/notesMaster1.xml" Id="Rb522d2bf496245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cc5e99f33b4acc" /><Relationship Type="http://schemas.openxmlformats.org/officeDocument/2006/relationships/notesMaster" Target="/ppt/notesMasters/notesMaster1.xml" Id="Ra29eab9fcd15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screenshots, 2026-10-16</a:t>
            </a:r>
          </a:p>
          <a:p xmlns:a="http://schemas.openxmlformats.org/drawingml/2006/main">
            <a:r>
              <a:t>Runtime change = 100 x (mean full / mean reference - 1). One pair is one full run and one reference run.</a:t>
            </a:r>
          </a:p>
          <a:p xmlns:a="http://schemas.openxmlformats.org/drawingml/2006/main">
            <a:r>
              <a:t>Point estimates alone cannot establish zero overhead, a speedup, or an acceptable overhead limit.</a:t>
            </a:r>
          </a:p>
          <a:p xmlns:a="http://schemas.openxmlformats.org/drawingml/2006/main">
            <a:r>
              <a:t>The original point estimates and pair counts come from the supplied team-summary.json, generated by trial summary. No intervals or missing cases were imputed.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Constructed protocol: production/workload.c and production/campaign.py. Source 9de3504 for the 16 October stack campaign. The old FFT caller uses FFTW_ESTIMATE and reused forward/inverse complex 3D plans. Raw run settings and emitted protection evidence remain unverified. New deployment mode, multiple fields and FFTW_MEASURE are follow-up coverage, not completed results on slide 1. Checkpoints use contiguous data, flush/close and a final warm read-back outside loop timing. Time example: 12*3600*0.01=432 seconds=7 minutes12 seconds. Conditional arithmetic, not an observed or forecast job-time effect. Runtime change = 100 x (mean full / mean reference - 1). One pair is one full run and one reference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10be8766a46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85ddc96d248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9955bca1247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900a2dc5841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6442c31a54a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0d10a411048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47C551-9E15-4C4F-921F-D3271FD1A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108960"/>
            <a:ext cx="11704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0A08BA-CE46-4E24-B0C7-C3BFFEFF35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4526280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532A73-6909-4E7B-A08B-8DC28258E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429000"/>
            <a:ext cx="11704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FAEEDD-EE50-44CE-9034-B9349D879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B72214-D59B-4DB2-A19F-D1545416FF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12984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62FFF0-37CD-4107-8458-91DF127B7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35967A-2B95-43EA-B944-01BA072E3A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E9D42F-3737-412C-B194-A256AE4DD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7240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32FB54-F4B7-44CA-B4D0-9A91A89452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3815A0-80D9-4500-8B07-6E38A7C3B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a0e6df7cc8471d" /><Relationship Type="http://schemas.openxmlformats.org/officeDocument/2006/relationships/slideLayout" Target="/ppt/slideLayouts/slideLayout1.xml" Id="R1d9e2d3b51b648d0" /><Relationship Type="http://schemas.openxmlformats.org/officeDocument/2006/relationships/slideLayout" Target="/ppt/slideLayouts/slideLayout2.xml" Id="R5d61c3d1ae6e451f" /><Relationship Type="http://schemas.openxmlformats.org/officeDocument/2006/relationships/slideLayout" Target="/ppt/slideLayouts/slideLayout3.xml" Id="R483d680d1eda4446" /><Relationship Type="http://schemas.openxmlformats.org/officeDocument/2006/relationships/slideLayout" Target="/ppt/slideLayouts/slideLayout4.xml" Id="Rca7b4cad23ba4ac1" /><Relationship Type="http://schemas.openxmlformats.org/officeDocument/2006/relationships/slideLayout" Target="/ppt/slideLayouts/slideLayout5.xml" Id="Rdde20a7df12f4e97" /><Relationship Type="http://schemas.openxmlformats.org/officeDocument/2006/relationships/slideLayout" Target="/ppt/slideLayouts/slideLayout6.xml" Id="Rfcd6641a94b14b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9e2d3b51b648d0"/>
    <p:sldLayoutId xmlns:r="http://schemas.openxmlformats.org/officeDocument/2006/relationships" id="2147483650" r:id="R5d61c3d1ae6e451f"/>
    <p:sldLayoutId xmlns:r="http://schemas.openxmlformats.org/officeDocument/2006/relationships" id="2147483651" r:id="R483d680d1eda4446"/>
    <p:sldLayoutId xmlns:r="http://schemas.openxmlformats.org/officeDocument/2006/relationships" id="2147483652" r:id="Rca7b4cad23ba4ac1"/>
    <p:sldLayoutId xmlns:r="http://schemas.openxmlformats.org/officeDocument/2006/relationships" id="2147483653" r:id="Rdde20a7df12f4e97"/>
    <p:sldLayoutId xmlns:r="http://schemas.openxmlformats.org/officeDocument/2006/relationships" id="2147483654" r:id="Rfcd6641a94b14b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fbab27cad4d58" /><Relationship Type="http://schemas.openxmlformats.org/officeDocument/2006/relationships/chart" Target="/ppt/slides/charts/chart1.xml" Id="R5991ad8bc17d4c20" /><Relationship Type="http://schemas.openxmlformats.org/officeDocument/2006/relationships/notesSlide" Target="/ppt/notesSlides/notesSlide1.xml" Id="Ra5101ec8c7b3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739b55bdc4bf3" /><Relationship Type="http://schemas.openxmlformats.org/officeDocument/2006/relationships/notesSlide" Target="/ppt/notesSlides/notesSlide2.xml" Id="R4512fbb746a840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Observed runtime change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6D7582"/>
              </a:solidFill>
            </c:spPr>
          </c:dPt>
          <c:cat>
            <c:strRef>
              <c:f>'Chart Data'!$A$2:$A$14</c:f>
              <c:strCache>
                <c:ptCount val="13"/>
                <c:pt idx="0">
                  <c:v>FFT loop / 2 nodes / 16 ranks/node</c:v>
                </c:pt>
                <c:pt idx="1">
                  <c:v>HDF5 collective / 2 nodes / 16 ranks/node</c:v>
                </c:pt>
                <c:pt idx="2">
                  <c:v>HDF5 independent / 2 nodes / 16 ranks/node</c:v>
                </c:pt>
                <c:pt idx="3">
                  <c:v>Integrated loop / 2 nodes / 16 ranks/node</c:v>
                </c:pt>
                <c:pt idx="4">
                  <c:v>FFT loop / 2 nodes / 92 ranks/node</c:v>
                </c:pt>
                <c:pt idx="5">
                  <c:v>HDF5 collective / 2 nodes / 92 ranks/node</c:v>
                </c:pt>
                <c:pt idx="6">
                  <c:v>HDF5 independent / 2 nodes / 92 ranks/node</c:v>
                </c:pt>
                <c:pt idx="7">
                  <c:v>Integrated loop / 2 nodes / 92 ranks/node</c:v>
                </c:pt>
                <c:pt idx="8">
                  <c:v>FFT loop / 4 nodes / all*</c:v>
                </c:pt>
                <c:pt idx="9">
                  <c:v>HDF5 collective / 4 nodes / all*</c:v>
                </c:pt>
                <c:pt idx="10">
                  <c:v>HDF5 independent / 4 nodes / all*</c:v>
                </c:pt>
                <c:pt idx="11">
                  <c:v>Integrated loop / 4 nodes / all*</c:v>
                </c:pt>
                <c:pt idx="12">
                  <c:v>FFT loop / 8 nodes / all* (partial)</c:v>
                </c:pt>
              </c:strCache>
            </c:strRef>
          </c:cat>
          <c:val>
            <c:numRef>
              <c:f>'Chart Data'!$B$2:$B$14</c:f>
              <c:numCache>
                <c:formatCode>0.0%</c:formatCode>
                <c:ptCount val="13"/>
                <c:pt idx="0">
                  <c:v>0.00222</c:v>
                </c:pt>
                <c:pt idx="1">
                  <c:v>-0.01077</c:v>
                </c:pt>
                <c:pt idx="2">
                  <c:v>-3E-05</c:v>
                </c:pt>
                <c:pt idx="3">
                  <c:v>-0.02589</c:v>
                </c:pt>
                <c:pt idx="4">
                  <c:v>0.00398</c:v>
                </c:pt>
                <c:pt idx="5">
                  <c:v>0.0033</c:v>
                </c:pt>
                <c:pt idx="6">
                  <c:v>0.00907</c:v>
                </c:pt>
                <c:pt idx="7">
                  <c:v>0.00022</c:v>
                </c:pt>
                <c:pt idx="8">
                  <c:v>-0.01288</c:v>
                </c:pt>
                <c:pt idx="9">
                  <c:v>-0.00448</c:v>
                </c:pt>
                <c:pt idx="10">
                  <c:v>0.01323</c:v>
                </c:pt>
                <c:pt idx="11">
                  <c:v>-0.02597</c:v>
                </c:pt>
                <c:pt idx="12">
                  <c:v>-0.01555</c:v>
                </c:pt>
              </c:numCache>
            </c:numRef>
          </c:val>
        </c:ser>
        <c:dLbls>
          <c:numFmt formatCode="+0.000%;-0.000%;0.0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98A7B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04"/>
          <c:min val="-0.0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1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7151-E59F-4D66-BE07-CA2055B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Compiler hardening: results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D172F-5F5B-4D1B-A6DD-877CB8C3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Completed point estimates: -2.60% to +1.32%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961EC-E6E1-4E64-B6F1-FC4B13EF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Full = candidate hardening profile. Reference = ordinary build. Negative = faster. Positive = slower.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4352590-2976-4C9D-9C40-531CDC31B33D}"/>
              </a:ext>
            </a:extLst>
          </p:cNvPr>
          <p:cNvGraphicFramePr/>
          <p:nvPr/>
        </p:nvGraphicFramePr>
        <p:xfrm>
          <a:off xmlns:a="http://schemas.openxmlformats.org/drawingml/2006/main" x="400050" y="2143125"/>
          <a:ext xmlns:a="http://schemas.openxmlformats.org/drawingml/2006/main" cx="10096500" cy="4400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91ad8bc17d4c2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7D020-2FD7-440A-8D93-4EB55728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03FAE-417C-4C0E-A4C2-D73586D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908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12 complete conditions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 partial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3 not measured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F19D1-80DF-4581-863C-5F9E40B8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5762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Missing: 8-node HDF5 + integrated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690C0-03A1-469A-A5CC-510F547C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Sample 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C88EA-1DC5-4613-8603-2DFBB7DA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910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10 pairs per complete case</a:t>
            </a:r>
          </a:p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(20 process runs)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11308-98C4-4E75-AF00-F7119D9A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24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Partial: 4/10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5A38F-DB15-47F5-BB15-8557D004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One pair = full +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91409-08A3-416A-A77A-F7699DDA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981825"/>
            <a:ext cx="1352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Provisional screenshot transcription, 16 Oct 2026. Error bars unavailable. Original build verification pending.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DB71B-3643-49A1-910B-C17D0447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19975"/>
            <a:ext cx="135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Takeaway: no consistent slowdown is apparent across these completed cases. Coverage and definitions follow on slide 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2F932-3373-45ED-B178-E7922291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914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Small point estimates do not prove zero overhead. *Exact 4-/8-node core counts are not visible in the photos.</a:t>
            </a:r>
          </a:p>
        </p:txBody>
      </p:sp>
    </p:spTree>
    <p:extLst>
      <p:ext uri="{BB962C8B-B14F-4D97-AF65-F5344CB8AC3E}">
        <p14:creationId xmlns:p14="http://schemas.microsoft.com/office/powerpoint/2010/main" val="2115883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4204C-FE90-4A05-9229-753298E8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Test design, time and remaining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E428F-EED0-4060-AC3B-1BC2C6C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352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Dense MPI phase only. Synthetic library workflows. Earlier serial/package screens are separate.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Full and reference change the caller plus the complete trial-owned library stack.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23F6F-9826-40DD-A835-DD24A9C0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88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Workloads constructed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BBE83-5B43-4B1A-8050-2A7049F0DC14}"/>
              </a:ext>
            </a:extLst>
          </p:cNvPr>
          <p:cNvGraphicFramePr/>
          <p:nvPr/>
        </p:nvGraphicFramePr>
        <p:xfrm>
          <a:off xmlns:a="http://schemas.openxmlformats.org/drawingml/2006/main" x="533400" y="2571750"/>
          <a:ext xmlns:a="http://schemas.openxmlformats.org/drawingml/2006/main" cx="8382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096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FFT loop</a:t>
                      </a:r>
                    </a:p>
                  </a:txBody>
                  <a:tcPr marL="76200" marR="114300" marT="57150" marB="571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T w="9525">
                      <a:solidFill>
                        <a:srgbClr val="E6EDF1"/>
                      </a:solidFill>
                    </a:lnT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3D forward/inverse complex FFTs. Plans reused.</a:t>
                      </a:r>
                    </a:p>
                  </a:txBody>
                  <a:tcPr marL="76200" marR="114300" marT="57150" marB="57150">
                    <a:lnR w="9525">
                      <a:solidFill>
                        <a:srgbClr val="E6EDF1"/>
                      </a:solidFill>
                    </a:lnR>
                    <a:lnT w="9525">
                      <a:solidFill>
                        <a:srgbClr val="E6EDF1"/>
                      </a:solidFill>
                    </a:lnT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HDF5 collective</a:t>
                      </a:r>
                    </a:p>
                  </a:txBody>
                  <a:tcPr marL="76200" marR="114300" marT="57150" marB="571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Collective writes, flush/close and read-back.</a:t>
                      </a:r>
                    </a:p>
                  </a:txBody>
                  <a:tcPr marL="76200" marR="114300" marT="57150" marB="57150"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HDF5 independent</a:t>
                      </a:r>
                    </a:p>
                  </a:txBody>
                  <a:tcPr marL="76200" marR="114300" marT="57150" marB="571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writes, flush/close and read-back.</a:t>
                      </a:r>
                    </a:p>
                  </a:txBody>
                  <a:tcPr marL="76200" marR="114300" marT="57150" marB="57150"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Integrated loop</a:t>
                      </a:r>
                    </a:p>
                  </a:txBody>
                  <a:tcPr marL="76200" marR="114300" marT="57150" marB="57150">
                    <a:lnL w="9525">
                      <a:solidFill>
                        <a:srgbClr val="E6EDF1"/>
                      </a:solidFill>
                    </a:lnL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24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Repeated FFTs with periodic checkpoints.</a:t>
                      </a:r>
                    </a:p>
                  </a:txBody>
                  <a:tcPr marL="76200" marR="114300" marT="57150" marB="57150">
                    <a:lnR w="9525">
                      <a:solidFill>
                        <a:srgbClr val="E6EDF1"/>
                      </a:solidFill>
                    </a:lnR>
                    <a:lnB w="9525">
                      <a:solidFill>
                        <a:srgbClr val="E6EDF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08954-7F34-4BF7-B511-4B6A4881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How the comparison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09873-69CD-4FA0-8BBA-3EBDE95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1175"/>
            <a:ext cx="8382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Maximum-rank loop time excludes startup, planning and final read-back.</a:t>
            </a:r>
          </a:p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Balanced process pairs. Work and rank layout stay fixed within each pair.</a:t>
            </a:r>
          </a:p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One rank per physical core. Slurm/Open MPI uses the saved UCX fabric policy.</a:t>
            </a:r>
          </a:p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Exact sizes, settings and build treatment await original-record verification.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BAFBE-D072-444F-951B-59F6468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288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Time and 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C4888-7B0B-45B7-9CE2-A8914EDE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Change = 100 x (full/reference - 1).</a:t>
            </a:r>
          </a:p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Positive: slower. Negative: faster.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F6F52-2511-4051-B9FD-F2EBEED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718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Example only: a 12-hour 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BD2ED-313E-4E28-9FFE-9331CFFA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At +1%: 7 min 12 sec longer.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At -1%: 7 min 12 sec shorter.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ACE94-3557-4F7B-A88C-15FAB4FC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43475"/>
            <a:ext cx="4476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Assumes a sustained whole-job effect</a:t>
            </a:r>
          </a:p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and comparable workload behavior.</a:t>
            </a:r>
          </a:p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More hours add seconds, not percentage.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19A5A-F638-4713-B2C4-940D4A46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579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Actual run duration is unavailable from the photos.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69988-84B1-4CDC-A0EE-40DD69AB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0"/>
            <a:ext cx="1352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Follow-up before a deployment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90C26-614D-450D-99EC-3118DAFE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0567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Audit flags and raw pairs. Test a fixed ordinary caller at 20 nodes, then vary FFT grids and sustained loop duration.</a:t>
            </a:r>
          </a:p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Vary checkpoint size, cadence and read/write patterns. Add OSU and repeat in independent allocations.</a:t>
            </a:r>
          </a:p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Current coverage does not establish whole-application, cold-cache or durable-storage cost.</a:t>
            </a:r>
          </a:p>
        </p:txBody>
      </p:sp>
    </p:spTree>
    <p:extLst>
      <p:ext uri="{BB962C8B-B14F-4D97-AF65-F5344CB8AC3E}">
        <p14:creationId xmlns:p14="http://schemas.microsoft.com/office/powerpoint/2010/main" val="1670734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2026-10-21T14:05:26.9180000Z</dcterms:created>
  <dcterms:modified xsi:type="dcterms:W3CDTF">2026-10-21T14:05:26.9180000Z</dcterms:modified>
</coreProperties>
</file>