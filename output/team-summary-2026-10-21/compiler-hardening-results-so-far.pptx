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12a3513a2046e1" /><Relationship Type="http://schemas.openxmlformats.org/officeDocument/2006/relationships/extended-properties" Target="/docProps/app.xml" Id="R3c1dde580b1b430d" /><Relationship Type="http://schemas.openxmlformats.org/officeDocument/2006/relationships/officeDocument" Target="/ppt/presentation.xml" Id="R4fff33d18ea84a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b81b0b38f490f"/>
  </p:sldMasterIdLst>
  <p:notesMasterIdLst>
    <p:notesMasterId xmlns:r="http://schemas.openxmlformats.org/officeDocument/2006/relationships" r:id="R5bdbe7555da84181"/>
  </p:notesMasterIdLst>
  <p:sldIdLst>
    <p:sldId xmlns:r="http://schemas.openxmlformats.org/officeDocument/2006/relationships" id="256" r:id="R292b621702cc4f68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510331d9394b14" /><Relationship Type="http://schemas.openxmlformats.org/officeDocument/2006/relationships/slideMaster" Target="/ppt/slideMasters/slideMaster1.xml" Id="R04cb81b0b38f490f" /><Relationship Type="http://schemas.openxmlformats.org/officeDocument/2006/relationships/notesMaster" Target="/ppt/notesMasters/notesMaster1.xml" Id="R5bdbe7555da84181" /><Relationship Type="http://schemas.openxmlformats.org/officeDocument/2006/relationships/presProps" Target="/ppt/presProps.xml" Id="Rda87f722c505471a" /><Relationship Type="http://schemas.openxmlformats.org/officeDocument/2006/relationships/tableStyles" Target="/ppt/tableStyles.xml" Id="R5421547cf13c4eb8" /><Relationship Type="http://schemas.openxmlformats.org/officeDocument/2006/relationships/slide" Target="/ppt/slides/slide1.xml" Id="R292b621702cc4f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a02c271fae4c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6972946b5f474f" /><Relationship Type="http://schemas.openxmlformats.org/officeDocument/2006/relationships/notesMaster" Target="/ppt/notesMasters/notesMaster1.xml" Id="R23e08f190b7547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Operator screenshots, 2026-10-16</a:t>
            </a:r>
          </a:p>
          <a:p xmlns:a="http://schemas.openxmlformats.org/drawingml/2006/main">
            <a:r>
              <a:t>Runtime change = 100 x (mean full / mean reference - 1). One pair is one full run and one reference run.</a:t>
            </a:r>
          </a:p>
          <a:p xmlns:a="http://schemas.openxmlformats.org/drawingml/2006/main">
            <a:r>
              <a:t>Point estimates alone cannot establish zero overhead, a speedup, or an acceptable overhead limit.</a:t>
            </a:r>
          </a:p>
          <a:p xmlns:a="http://schemas.openxmlformats.org/drawingml/2006/main">
            <a:r>
              <a:t>The original point estimates and pair counts come from the supplied team-summary.json, generated by trial summary. No intervals or missing cases were imputed.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ddb71a3894e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f8a75b8e14e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ee1ce944a41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4869f42e948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42b6e8e6f4a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0420dc04442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D17704-F705-4411-B418-F463819D4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3108960"/>
            <a:ext cx="11704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A85039-007F-483B-A9C2-B32F9E4718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94560" y="4526280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D61A71-374A-4009-B65D-62044C0DD2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3429000"/>
            <a:ext cx="117043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3B201C-6504-4683-84AE-051EFA450D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AB61C1-1B26-48A5-B2EA-18C123F5FB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12984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42FD08-7E35-4887-B94D-152786F75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DA9EF1-F1B9-43D6-AB9C-86EC2BBA47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A087D0-5495-4C20-9942-12FA506490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7240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1A48B0-B122-4337-8235-29B6D71594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D76256-3832-4725-BFC9-8EBFBED76F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cc6afa33d742e7" /><Relationship Type="http://schemas.openxmlformats.org/officeDocument/2006/relationships/slideLayout" Target="/ppt/slideLayouts/slideLayout1.xml" Id="R9515ebcab80c47ed" /><Relationship Type="http://schemas.openxmlformats.org/officeDocument/2006/relationships/slideLayout" Target="/ppt/slideLayouts/slideLayout2.xml" Id="R8b0452ffbe294e4d" /><Relationship Type="http://schemas.openxmlformats.org/officeDocument/2006/relationships/slideLayout" Target="/ppt/slideLayouts/slideLayout3.xml" Id="R64fae7de0e244a17" /><Relationship Type="http://schemas.openxmlformats.org/officeDocument/2006/relationships/slideLayout" Target="/ppt/slideLayouts/slideLayout4.xml" Id="Re69b3866ebd24301" /><Relationship Type="http://schemas.openxmlformats.org/officeDocument/2006/relationships/slideLayout" Target="/ppt/slideLayouts/slideLayout5.xml" Id="R2560e342741b4357" /><Relationship Type="http://schemas.openxmlformats.org/officeDocument/2006/relationships/slideLayout" Target="/ppt/slideLayouts/slideLayout6.xml" Id="R50e92992a93047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15ebcab80c47ed"/>
    <p:sldLayoutId xmlns:r="http://schemas.openxmlformats.org/officeDocument/2006/relationships" id="2147483650" r:id="R8b0452ffbe294e4d"/>
    <p:sldLayoutId xmlns:r="http://schemas.openxmlformats.org/officeDocument/2006/relationships" id="2147483651" r:id="R64fae7de0e244a17"/>
    <p:sldLayoutId xmlns:r="http://schemas.openxmlformats.org/officeDocument/2006/relationships" id="2147483652" r:id="Re69b3866ebd24301"/>
    <p:sldLayoutId xmlns:r="http://schemas.openxmlformats.org/officeDocument/2006/relationships" id="2147483653" r:id="R2560e342741b4357"/>
    <p:sldLayoutId xmlns:r="http://schemas.openxmlformats.org/officeDocument/2006/relationships" id="2147483654" r:id="R50e92992a93047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ab15383264411d" /><Relationship Type="http://schemas.openxmlformats.org/officeDocument/2006/relationships/chart" Target="/ppt/slides/charts/chart1.xml" Id="R4542c83f33074b3b" /><Relationship Type="http://schemas.openxmlformats.org/officeDocument/2006/relationships/notesSlide" Target="/ppt/notesSlides/notesSlide1.xml" Id="R8530b585268a431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Observed runtime change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476BB3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B8702D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6D7582"/>
              </a:solidFill>
            </c:spPr>
          </c:dPt>
          <c:cat>
            <c:strRef>
              <c:f>'Chart Data'!$A$2:$A$14</c:f>
              <c:strCache>
                <c:ptCount val="13"/>
                <c:pt idx="0">
                  <c:v>FFT loop / 2 nodes / 16 ranks/node</c:v>
                </c:pt>
                <c:pt idx="1">
                  <c:v>HDF5 collective / 2 nodes / 16 ranks/node</c:v>
                </c:pt>
                <c:pt idx="2">
                  <c:v>HDF5 independent / 2 nodes / 16 ranks/node</c:v>
                </c:pt>
                <c:pt idx="3">
                  <c:v>Integrated loop / 2 nodes / 16 ranks/node</c:v>
                </c:pt>
                <c:pt idx="4">
                  <c:v>FFT loop / 2 nodes / 92 ranks/node</c:v>
                </c:pt>
                <c:pt idx="5">
                  <c:v>HDF5 collective / 2 nodes / 92 ranks/node</c:v>
                </c:pt>
                <c:pt idx="6">
                  <c:v>HDF5 independent / 2 nodes / 92 ranks/node</c:v>
                </c:pt>
                <c:pt idx="7">
                  <c:v>Integrated loop / 2 nodes / 92 ranks/node</c:v>
                </c:pt>
                <c:pt idx="8">
                  <c:v>FFT loop / 4 nodes / all*</c:v>
                </c:pt>
                <c:pt idx="9">
                  <c:v>HDF5 collective / 4 nodes / all*</c:v>
                </c:pt>
                <c:pt idx="10">
                  <c:v>HDF5 independent / 4 nodes / all*</c:v>
                </c:pt>
                <c:pt idx="11">
                  <c:v>Integrated loop / 4 nodes / all*</c:v>
                </c:pt>
                <c:pt idx="12">
                  <c:v>FFT loop / 8 nodes / all* (partial)</c:v>
                </c:pt>
              </c:strCache>
            </c:strRef>
          </c:cat>
          <c:val>
            <c:numRef>
              <c:f>'Chart Data'!$B$2:$B$14</c:f>
              <c:numCache>
                <c:formatCode>0.0%</c:formatCode>
                <c:ptCount val="13"/>
                <c:pt idx="0">
                  <c:v>0.00222</c:v>
                </c:pt>
                <c:pt idx="1">
                  <c:v>-0.01077</c:v>
                </c:pt>
                <c:pt idx="2">
                  <c:v>-3E-05</c:v>
                </c:pt>
                <c:pt idx="3">
                  <c:v>-0.02589</c:v>
                </c:pt>
                <c:pt idx="4">
                  <c:v>0.00398</c:v>
                </c:pt>
                <c:pt idx="5">
                  <c:v>0.0033</c:v>
                </c:pt>
                <c:pt idx="6">
                  <c:v>0.00907</c:v>
                </c:pt>
                <c:pt idx="7">
                  <c:v>0.00022</c:v>
                </c:pt>
                <c:pt idx="8">
                  <c:v>-0.01288</c:v>
                </c:pt>
                <c:pt idx="9">
                  <c:v>-0.00448</c:v>
                </c:pt>
                <c:pt idx="10">
                  <c:v>0.01323</c:v>
                </c:pt>
                <c:pt idx="11">
                  <c:v>-0.02597</c:v>
                </c:pt>
                <c:pt idx="12">
                  <c:v>-0.01555</c:v>
                </c:pt>
              </c:numCache>
            </c:numRef>
          </c:val>
        </c:ser>
        <c:dLbls>
          <c:numFmt formatCode="+0.000%;-0.000%;0.0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98A7B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04"/>
          <c:min val="-0.04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1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AC774-152B-4B78-8453-42EAFC86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Compiler hardening: results so far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52147-117B-4D52-AEF5-8BFE2DCD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Completed point estimates: -2.60% to +1.32%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4A7C1-2723-4950-968B-99D26274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Runtime change versus ordinary reference. Negative = faster. Positive = slower. 0% = unchanged.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47373C8-BD7C-49A4-A68F-5505B47E8BAC}"/>
              </a:ext>
            </a:extLst>
          </p:cNvPr>
          <p:cNvGraphicFramePr/>
          <p:nvPr/>
        </p:nvGraphicFramePr>
        <p:xfrm>
          <a:off xmlns:a="http://schemas.openxmlformats.org/drawingml/2006/main" x="400050" y="2143125"/>
          <a:ext xmlns:a="http://schemas.openxmlformats.org/drawingml/2006/main" cx="10096500" cy="4400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42c83f33074b3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9C0A4-EB5F-4926-89EC-69083CAB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66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EDB9F-6311-44AD-AC98-06E3C22C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79082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12 complete conditions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1 partial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3 not measured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9DB68-6101-4205-9AB4-B7974D37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57625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Missing: 8-node HDF5 + integrated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7230A-E724-445A-B4BE-2B5A8112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862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Sample counts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65AFB-CAF8-40A8-B13F-DD38893C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7910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10 pairs per complete case</a:t>
            </a:r>
          </a:p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(20 process runs)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82F8D-17FE-4CBF-9FDE-23593A3A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724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Partial: 4/10 pairs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94004-989A-45C7-A867-0045EC98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007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One pair = full + reference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9F9D2-3E5C-4F7F-81C0-0DA1758B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981825"/>
            <a:ext cx="1352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Provisional screenshot transcription, 16 Oct 2026. Error bars unavailable. Original build verification pending.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D2FBA-EE62-4DD0-B0EE-EE77FF51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19975"/>
            <a:ext cx="135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Matched callers and complete library stacks change together. Layouts may use different 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F6984-9259-4CD7-8FC8-32D04B72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914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3247"/>
                </a:solidFill>
                <a:latin typeface="Helvetica Neue"/>
                <a:ea typeface="Helvetica Neue"/>
                <a:cs typeface="Helvetica Neue"/>
              </a:rPr>
              <a:t>Small point estimates do not prove zero overhead. *Exact 4-/8-node core counts are not visible in the photos.</a:t>
            </a:r>
          </a:p>
        </p:txBody>
      </p:sp>
    </p:spTree>
    <p:extLst>
      <p:ext uri="{BB962C8B-B14F-4D97-AF65-F5344CB8AC3E}">
        <p14:creationId xmlns:p14="http://schemas.microsoft.com/office/powerpoint/2010/main" val="1682124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2026-10-21T13:45:30.3340000Z</dcterms:created>
  <dcterms:modified xsi:type="dcterms:W3CDTF">2026-10-21T13:45:30.3340000Z</dcterms:modified>
</coreProperties>
</file>