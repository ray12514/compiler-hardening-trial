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49a5360c1d495c" /><Relationship Type="http://schemas.openxmlformats.org/officeDocument/2006/relationships/extended-properties" Target="/docProps/app.xml" Id="R7a09b8b461714152" /><Relationship Type="http://schemas.openxmlformats.org/officeDocument/2006/relationships/officeDocument" Target="/ppt/presentation.xml" Id="R36609237bfbc48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7fe11860a34e27"/>
  </p:sldMasterIdLst>
  <p:notesMasterIdLst>
    <p:notesMasterId xmlns:r="http://schemas.openxmlformats.org/officeDocument/2006/relationships" r:id="R71a58a870a164fe1"/>
  </p:notesMasterIdLst>
  <p:sldIdLst>
    <p:sldId xmlns:r="http://schemas.openxmlformats.org/officeDocument/2006/relationships" id="256" r:id="R984fdb700e6c4ab6"/>
    <p:sldId xmlns:r="http://schemas.openxmlformats.org/officeDocument/2006/relationships" id="257" r:id="R0384da136b6847f2"/>
    <p:sldId xmlns:r="http://schemas.openxmlformats.org/officeDocument/2006/relationships" id="258" r:id="R0c0c90f61f474e98"/>
  </p:sldIdLst>
  <p:sldSz cx="14630400" cy="82296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2aded7a70e4e0b" /><Relationship Type="http://schemas.openxmlformats.org/officeDocument/2006/relationships/slideMaster" Target="/ppt/slideMasters/slideMaster1.xml" Id="R3b7fe11860a34e27" /><Relationship Type="http://schemas.openxmlformats.org/officeDocument/2006/relationships/notesMaster" Target="/ppt/notesMasters/notesMaster1.xml" Id="R71a58a870a164fe1" /><Relationship Type="http://schemas.openxmlformats.org/officeDocument/2006/relationships/presProps" Target="/ppt/presProps.xml" Id="R8e8917c8c1814a4f" /><Relationship Type="http://schemas.openxmlformats.org/officeDocument/2006/relationships/tableStyles" Target="/ppt/tableStyles.xml" Id="Ra9e99d6946514e06" /><Relationship Type="http://schemas.openxmlformats.org/officeDocument/2006/relationships/slide" Target="/ppt/slides/slide1.xml" Id="R984fdb700e6c4ab6" /><Relationship Type="http://schemas.openxmlformats.org/officeDocument/2006/relationships/slide" Target="/ppt/slides/slide2.xml" Id="R0384da136b6847f2" /><Relationship Type="http://schemas.openxmlformats.org/officeDocument/2006/relationships/slide" Target="/ppt/slides/slide3.xml" Id="R0c0c90f61f474e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d981b4ba284c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51399255754db6" /><Relationship Type="http://schemas.openxmlformats.org/officeDocument/2006/relationships/notesMaster" Target="/ppt/notesMasters/notesMaster1.xml" Id="Ra78ce680f9a54d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d8c2be929c4bc9" /><Relationship Type="http://schemas.openxmlformats.org/officeDocument/2006/relationships/notesMaster" Target="/ppt/notesMasters/notesMaster1.xml" Id="R9402f27c77084f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59a575cec04756" /><Relationship Type="http://schemas.openxmlformats.org/officeDocument/2006/relationships/notesMaster" Target="/ppt/notesMasters/notesMaster1.xml" Id="R3033369a579846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Operator screenshots, 2026-10-16</a:t>
            </a:r>
          </a:p>
          <a:p xmlns:a="http://schemas.openxmlformats.org/drawingml/2006/main">
            <a:r>
              <a:t>Runtime change = 100 x (mean full / mean reference - 1). One pair is one full run and one reference run.</a:t>
            </a:r>
          </a:p>
          <a:p xmlns:a="http://schemas.openxmlformats.org/drawingml/2006/main">
            <a:r>
              <a:t>Point estimates alone cannot establish zero overhead, a speedup, or an acceptable overhead limit.</a:t>
            </a:r>
          </a:p>
          <a:p xmlns:a="http://schemas.openxmlformats.org/drawingml/2006/main">
            <a:r>
              <a:t>The original point estimates and pair counts come from the supplied team-summary.json, generated by trial summary. No intervals or missing cases were imputed.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Constructed protocol: production/workload.c and production/campaign.py. Source 9de3504 for the 16 October stack campaign. The old FFT caller uses FFTW_ESTIMATE and reused forward/inverse complex 3D plans. Raw run settings and emitted protection evidence remain unverified. New deployment mode, multiple fields and FFTW_MEASURE are follow-up coverage, not completed results on slide 1. Checkpoints use contiguous data, flush/close and a final warm read-back outside loop timing. Runtime change = 100 x (mean full / mean reference - 1). One pair is one full run and one reference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 example: 12*3600*0.01=432 seconds=7 minutes12 seconds. Conditional arithmetic, not an observed or forecast job-time effect. If only part of a job uses the affected library, the whole-job effect also depends on the fraction of runtime spent there and on comparable execution behavior. The 20-node batch is an initial density screen. Sustained FFT tests and broader I/O patterns are later coverage. Individual compiler-flag attribution remains deferred. Point estimates alone cannot establish zero overhead, a speedup, or an acceptable overhead limit.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f0797a861f4c8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01611d85de465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92287f3b5d454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7d79d2d72d421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9779decdf9488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3c186c9dcf43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B76ACC-130C-440C-A690-5563F9CAE3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63040" y="3108960"/>
            <a:ext cx="11704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7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D77B386-FDC3-4F1F-8A9F-72DE50EBC69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94560" y="4526280"/>
            <a:ext cx="1024128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DF29CFE-99F2-4129-B912-4FFC6F7E5D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63040" y="3429000"/>
            <a:ext cx="1170432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1B36DD-F44F-4288-96CD-EA0E44C570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22960" y="640080"/>
            <a:ext cx="1298448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DC5348B-550B-4A70-99E1-D179EABFF3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22960" y="2286000"/>
            <a:ext cx="12984480" cy="5120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7432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4008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0584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73736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0312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46888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83464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20040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6548C14-D645-4E09-AAF0-A0E63064D9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22960" y="640080"/>
            <a:ext cx="1298448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5139F85-1722-48C7-B514-5BFFA9AE11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22960" y="2286000"/>
            <a:ext cx="6035040" cy="5120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7432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4008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0584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73736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0312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46888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83464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20040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752BC8A-C08B-4860-84DE-35F9103D5B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772400" y="2286000"/>
            <a:ext cx="6035040" cy="5120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7432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4008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0584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73736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0312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46888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83464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20040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69B0C9-C4C9-44C0-B879-BA67D8C394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22960" y="640080"/>
            <a:ext cx="1298448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55166B8-48E4-4500-A7D3-5D9E18A05B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22960" y="2286000"/>
            <a:ext cx="6035040" cy="5120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7432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4008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0584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73736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0312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46888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83464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20040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8166217d974227" /><Relationship Type="http://schemas.openxmlformats.org/officeDocument/2006/relationships/slideLayout" Target="/ppt/slideLayouts/slideLayout1.xml" Id="R0f16ed918c54491e" /><Relationship Type="http://schemas.openxmlformats.org/officeDocument/2006/relationships/slideLayout" Target="/ppt/slideLayouts/slideLayout2.xml" Id="R3f2ccb7ff9414cda" /><Relationship Type="http://schemas.openxmlformats.org/officeDocument/2006/relationships/slideLayout" Target="/ppt/slideLayouts/slideLayout3.xml" Id="Rc39d6ab70e764670" /><Relationship Type="http://schemas.openxmlformats.org/officeDocument/2006/relationships/slideLayout" Target="/ppt/slideLayouts/slideLayout4.xml" Id="Re391733966514d51" /><Relationship Type="http://schemas.openxmlformats.org/officeDocument/2006/relationships/slideLayout" Target="/ppt/slideLayouts/slideLayout5.xml" Id="Rddf900a564fc4c14" /><Relationship Type="http://schemas.openxmlformats.org/officeDocument/2006/relationships/slideLayout" Target="/ppt/slideLayouts/slideLayout6.xml" Id="R0cb4949e7f3341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16ed918c54491e"/>
    <p:sldLayoutId xmlns:r="http://schemas.openxmlformats.org/officeDocument/2006/relationships" id="2147483650" r:id="R3f2ccb7ff9414cda"/>
    <p:sldLayoutId xmlns:r="http://schemas.openxmlformats.org/officeDocument/2006/relationships" id="2147483651" r:id="Rc39d6ab70e764670"/>
    <p:sldLayoutId xmlns:r="http://schemas.openxmlformats.org/officeDocument/2006/relationships" id="2147483652" r:id="Re391733966514d51"/>
    <p:sldLayoutId xmlns:r="http://schemas.openxmlformats.org/officeDocument/2006/relationships" id="2147483653" r:id="Rddf900a564fc4c14"/>
    <p:sldLayoutId xmlns:r="http://schemas.openxmlformats.org/officeDocument/2006/relationships" id="2147483654" r:id="R0cb4949e7f3341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b837cb8c3a446e" /><Relationship Type="http://schemas.openxmlformats.org/officeDocument/2006/relationships/chart" Target="/ppt/slides/charts/chart1.xml" Id="R6b27ee63043d401b" /><Relationship Type="http://schemas.openxmlformats.org/officeDocument/2006/relationships/notesSlide" Target="/ppt/notesSlides/notesSlide1.xml" Id="Raf7d86f9614442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9584b8fc7f4bb8" /><Relationship Type="http://schemas.openxmlformats.org/officeDocument/2006/relationships/notesSlide" Target="/ppt/notesSlides/notesSlide2.xml" Id="R0390f0c39dad47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5777642f884e75" /><Relationship Type="http://schemas.openxmlformats.org/officeDocument/2006/relationships/notesSlide" Target="/ppt/notesSlides/notesSlide3.xml" Id="R921d990aef63491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Observed runtime change</c:v>
          </c:tx>
          <c:invertIfNegative val="0"/>
          <c:dPt>
            <c:idx val="0"/>
            <c:invertIfNegative val="0"/>
            <c:spPr>
              <a:solidFill xmlns:a="http://schemas.openxmlformats.org/drawingml/2006/main">
                <a:srgbClr val="167D8D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167D8D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167D8D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167D8D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476BB3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476BB3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476BB3"/>
              </a:solidFill>
            </c:spPr>
          </c:dPt>
          <c:dPt>
            <c:idx val="7"/>
            <c:invertIfNegative val="0"/>
            <c:spPr>
              <a:solidFill xmlns:a="http://schemas.openxmlformats.org/drawingml/2006/main">
                <a:srgbClr val="476BB3"/>
              </a:solidFill>
            </c:spPr>
          </c:dPt>
          <c:dPt>
            <c:idx val="8"/>
            <c:invertIfNegative val="0"/>
            <c:spPr>
              <a:solidFill xmlns:a="http://schemas.openxmlformats.org/drawingml/2006/main">
                <a:srgbClr val="B8702D"/>
              </a:solidFill>
            </c:spPr>
          </c:dPt>
          <c:dPt>
            <c:idx val="9"/>
            <c:invertIfNegative val="0"/>
            <c:spPr>
              <a:solidFill xmlns:a="http://schemas.openxmlformats.org/drawingml/2006/main">
                <a:srgbClr val="B8702D"/>
              </a:solidFill>
            </c:spPr>
          </c:dPt>
          <c:dPt>
            <c:idx val="10"/>
            <c:invertIfNegative val="0"/>
            <c:spPr>
              <a:solidFill xmlns:a="http://schemas.openxmlformats.org/drawingml/2006/main">
                <a:srgbClr val="B8702D"/>
              </a:solidFill>
            </c:spPr>
          </c:dPt>
          <c:dPt>
            <c:idx val="11"/>
            <c:invertIfNegative val="0"/>
            <c:spPr>
              <a:solidFill xmlns:a="http://schemas.openxmlformats.org/drawingml/2006/main">
                <a:srgbClr val="B8702D"/>
              </a:solidFill>
            </c:spPr>
          </c:dPt>
          <c:dPt>
            <c:idx val="12"/>
            <c:invertIfNegative val="0"/>
            <c:spPr>
              <a:solidFill xmlns:a="http://schemas.openxmlformats.org/drawingml/2006/main">
                <a:srgbClr val="6D7582"/>
              </a:solidFill>
            </c:spPr>
          </c:dPt>
          <c:cat>
            <c:strRef>
              <c:f>'Chart Data'!$A$2:$A$14</c:f>
              <c:strCache>
                <c:ptCount val="13"/>
                <c:pt idx="0">
                  <c:v>FFT / 2 nodes / 16 ranks/node</c:v>
                </c:pt>
                <c:pt idx="1">
                  <c:v>HDF5 coll. / 2 nodes / 16 ranks/node</c:v>
                </c:pt>
                <c:pt idx="2">
                  <c:v>HDF5 indep. / 2 nodes / 16 ranks/node</c:v>
                </c:pt>
                <c:pt idx="3">
                  <c:v>Integrated / 2 nodes / 16 ranks/node</c:v>
                </c:pt>
                <c:pt idx="4">
                  <c:v>FFT / 2 nodes / 92 ranks/node</c:v>
                </c:pt>
                <c:pt idx="5">
                  <c:v>HDF5 coll. / 2 nodes / 92 ranks/node</c:v>
                </c:pt>
                <c:pt idx="6">
                  <c:v>HDF5 indep. / 2 nodes / 92 ranks/node</c:v>
                </c:pt>
                <c:pt idx="7">
                  <c:v>Integrated / 2 nodes / 92 ranks/node</c:v>
                </c:pt>
                <c:pt idx="8">
                  <c:v>FFT / 4 nodes / all*</c:v>
                </c:pt>
                <c:pt idx="9">
                  <c:v>HDF5 coll. / 4 nodes / all*</c:v>
                </c:pt>
                <c:pt idx="10">
                  <c:v>HDF5 indep. / 4 nodes / all*</c:v>
                </c:pt>
                <c:pt idx="11">
                  <c:v>Integrated / 4 nodes / all*</c:v>
                </c:pt>
                <c:pt idx="12">
                  <c:v>FFT / 8 nodes / all* (partial)</c:v>
                </c:pt>
              </c:strCache>
            </c:strRef>
          </c:cat>
          <c:val>
            <c:numRef>
              <c:f>'Chart Data'!$B$2:$B$14</c:f>
              <c:numCache>
                <c:formatCode>0.0%</c:formatCode>
                <c:ptCount val="13"/>
                <c:pt idx="0">
                  <c:v>0.00222</c:v>
                </c:pt>
                <c:pt idx="1">
                  <c:v>-0.01077</c:v>
                </c:pt>
                <c:pt idx="2">
                  <c:v>-3E-05</c:v>
                </c:pt>
                <c:pt idx="3">
                  <c:v>-0.02589</c:v>
                </c:pt>
                <c:pt idx="4">
                  <c:v>0.00398</c:v>
                </c:pt>
                <c:pt idx="5">
                  <c:v>0.0033</c:v>
                </c:pt>
                <c:pt idx="6">
                  <c:v>0.00907</c:v>
                </c:pt>
                <c:pt idx="7">
                  <c:v>0.00022</c:v>
                </c:pt>
                <c:pt idx="8">
                  <c:v>-0.01288</c:v>
                </c:pt>
                <c:pt idx="9">
                  <c:v>-0.00448</c:v>
                </c:pt>
                <c:pt idx="10">
                  <c:v>0.01323</c:v>
                </c:pt>
                <c:pt idx="11">
                  <c:v>-0.02597</c:v>
                </c:pt>
                <c:pt idx="12">
                  <c:v>-0.01555</c:v>
                </c:pt>
              </c:numCache>
            </c:numRef>
          </c:val>
        </c:ser>
        <c:dLbls>
          <c:numFmt formatCode="+0.000%;-0.000%;0.00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98A7B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0.04"/>
          <c:min val="-0.04"/>
        </c:scaling>
        <c:delete val="0"/>
        <c:axPos val="b"/>
        <c:majorGridlines>
          <c:spPr>
            <a:ln xmlns:a="http://schemas.openxmlformats.org/drawingml/2006/main" w="9525">
              <a:solidFill>
                <a:srgbClr val="E6EDF1"/>
              </a:solidFill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DA851F-7961-4118-BBB7-17FA7C82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333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Compiler hardening: results so far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4E6B95-A557-4C49-B75E-E0841A3F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333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Completed point estimates: -2.60% to +1.32%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47A048-7B0E-47DF-8300-813AB4AA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1333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Full = candidate hardening profile. Reference = ordinary build. Negative = faster. Positive = slower.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61052E3C-5656-4EA2-9CE4-495751898296}"/>
              </a:ext>
            </a:extLst>
          </p:cNvPr>
          <p:cNvGraphicFramePr/>
          <p:nvPr/>
        </p:nvGraphicFramePr>
        <p:xfrm>
          <a:off xmlns:a="http://schemas.openxmlformats.org/drawingml/2006/main" x="400050" y="2143125"/>
          <a:ext xmlns:a="http://schemas.openxmlformats.org/drawingml/2006/main" cx="10096500" cy="4400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b27ee63043d401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3FD855-49C4-489D-8D58-78F6DDD5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2669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Coverage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800799-2E82-41B4-9AB8-299E264B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790825"/>
            <a:ext cx="314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12 complete conditions</a:t>
            </a:r>
          </a:p>
          <a:p xmlns:a="http://schemas.openxmlformats.org/drawingml/2006/main">
            <a: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1 partial</a:t>
            </a:r>
          </a:p>
          <a:p xmlns:a="http://schemas.openxmlformats.org/drawingml/2006/main">
            <a: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3 not measured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5630F5-793F-4DCB-B123-87925367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857625"/>
            <a:ext cx="3190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Missing: 8-node I/O cases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C0239F-94B2-480B-8414-2B5285BA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86250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Sample counts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D0DC9F-ABCB-45F1-9CE7-AE3EA93F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79107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10 pairs per case</a:t>
            </a:r>
          </a:p>
          <a:p xmlns:a="http://schemas.openxmlformats.org/drawingml/2006/main">
            <a: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(20 process runs)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925A30-8739-4F0B-863B-F1547684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724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Partial: 4/10 pairs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601BBD-25AF-4304-BBDD-509663C0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007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One pair = full + reference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F9F1D-6A2F-4F24-97CA-513966CF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981825"/>
            <a:ext cx="1352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Provisional screenshot transcription, 16 Oct 2026. Error bars unavailable. Original build verification pending.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789F84-2702-49D0-90F3-75282B99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19975"/>
            <a:ext cx="1352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Takeaway: no consistent slowdown is apparent in completed cases. Methods and next tests follow.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62660C-AB81-462D-9254-2BDCC418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791450"/>
            <a:ext cx="1352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Small point estimates do not prove zero overhead. *Exact 4-/8-node core counts are not visible in the photos.</a:t>
            </a:r>
          </a:p>
        </p:txBody>
      </p:sp>
    </p:spTree>
    <p:extLst>
      <p:ext uri="{BB962C8B-B14F-4D97-AF65-F5344CB8AC3E}">
        <p14:creationId xmlns:p14="http://schemas.microsoft.com/office/powerpoint/2010/main" val="14132471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6014F5-FF8B-48B0-B3E8-98CE64D2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352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Test design and measurement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2F8AF3-CC6D-4178-A5EE-CA94A6CC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352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Dense MPI phase only. Synthetic library workflows. Earlier serial/package screens are separate.</a:t>
            </a:r>
          </a:p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Full and reference change the caller plus the complete trial-owned library stack.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8E6FEA-27AC-43E1-8C8A-A187E9D2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352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Workloads constructed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217BE-67A9-4545-A667-CAE5079040E2}"/>
              </a:ext>
            </a:extLst>
          </p:cNvPr>
          <p:cNvGraphicFramePr/>
          <p:nvPr/>
        </p:nvGraphicFramePr>
        <p:xfrm>
          <a:off xmlns:a="http://schemas.openxmlformats.org/drawingml/2006/main" x="533400" y="2524125"/>
          <a:ext xmlns:a="http://schemas.openxmlformats.org/drawingml/2006/main" cx="135255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10191750"/>
              </a:tblGrid>
              <a:tr h="6667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6324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FFT loop</a:t>
                      </a:r>
                    </a:p>
                  </a:txBody>
                  <a:tcPr marL="114300" marR="152400" marT="104775" marB="95250">
                    <a:lnL w="9525">
                      <a:solidFill>
                        <a:srgbClr val="E6EDF1"/>
                      </a:solidFill>
                    </a:lnL>
                    <a:lnR w="9525">
                      <a:solidFill>
                        <a:srgbClr val="E6EDF1"/>
                      </a:solidFill>
                    </a:lnR>
                    <a:lnT w="9525">
                      <a:solidFill>
                        <a:srgbClr val="E6EDF1"/>
                      </a:solidFill>
                    </a:lnT>
                    <a:lnB w="9525">
                      <a:solidFill>
                        <a:srgbClr val="E6ED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6324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3D forward/inverse complex FFTs. Plans reused.</a:t>
                      </a:r>
                    </a:p>
                  </a:txBody>
                  <a:tcPr marL="114300" marR="152400" marT="104775" marB="95250">
                    <a:lnR w="9525">
                      <a:solidFill>
                        <a:srgbClr val="E6EDF1"/>
                      </a:solidFill>
                    </a:lnR>
                    <a:lnT w="9525">
                      <a:solidFill>
                        <a:srgbClr val="E6EDF1"/>
                      </a:solidFill>
                    </a:lnT>
                    <a:lnB w="9525">
                      <a:solidFill>
                        <a:srgbClr val="E6EDF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6324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HDF5 collective</a:t>
                      </a:r>
                    </a:p>
                  </a:txBody>
                  <a:tcPr marL="114300" marR="152400" marT="104775" marB="95250">
                    <a:lnL w="9525">
                      <a:solidFill>
                        <a:srgbClr val="E6EDF1"/>
                      </a:solidFill>
                    </a:lnL>
                    <a:lnR w="9525">
                      <a:solidFill>
                        <a:srgbClr val="E6EDF1"/>
                      </a:solidFill>
                    </a:lnR>
                    <a:lnB w="9525">
                      <a:solidFill>
                        <a:srgbClr val="E6ED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6324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Collective writes, flush/close and read-back.</a:t>
                      </a:r>
                    </a:p>
                  </a:txBody>
                  <a:tcPr marL="114300" marR="152400" marT="104775" marB="95250">
                    <a:lnR w="9525">
                      <a:solidFill>
                        <a:srgbClr val="E6EDF1"/>
                      </a:solidFill>
                    </a:lnR>
                    <a:lnB w="9525">
                      <a:solidFill>
                        <a:srgbClr val="E6EDF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6324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HDF5 independent</a:t>
                      </a:r>
                    </a:p>
                  </a:txBody>
                  <a:tcPr marL="114300" marR="152400" marT="104775" marB="95250">
                    <a:lnL w="9525">
                      <a:solidFill>
                        <a:srgbClr val="E6EDF1"/>
                      </a:solidFill>
                    </a:lnL>
                    <a:lnR w="9525">
                      <a:solidFill>
                        <a:srgbClr val="E6EDF1"/>
                      </a:solidFill>
                    </a:lnR>
                    <a:lnB w="9525">
                      <a:solidFill>
                        <a:srgbClr val="E6ED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6324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Independent writes, flush/close and read-back.</a:t>
                      </a:r>
                    </a:p>
                  </a:txBody>
                  <a:tcPr marL="114300" marR="152400" marT="104775" marB="95250">
                    <a:lnR w="9525">
                      <a:solidFill>
                        <a:srgbClr val="E6EDF1"/>
                      </a:solidFill>
                    </a:lnR>
                    <a:lnB w="9525">
                      <a:solidFill>
                        <a:srgbClr val="E6EDF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6324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Integrated loop</a:t>
                      </a:r>
                    </a:p>
                  </a:txBody>
                  <a:tcPr marL="114300" marR="152400" marT="104775" marB="95250">
                    <a:lnL w="9525">
                      <a:solidFill>
                        <a:srgbClr val="E6EDF1"/>
                      </a:solidFill>
                    </a:lnL>
                    <a:lnR w="9525">
                      <a:solidFill>
                        <a:srgbClr val="E6EDF1"/>
                      </a:solidFill>
                    </a:lnR>
                    <a:lnB w="9525">
                      <a:solidFill>
                        <a:srgbClr val="E6ED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6324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Repeated FFTs with periodic checkpoints.</a:t>
                      </a:r>
                    </a:p>
                  </a:txBody>
                  <a:tcPr marL="114300" marR="152400" marT="104775" marB="95250">
                    <a:lnR w="9525">
                      <a:solidFill>
                        <a:srgbClr val="E6EDF1"/>
                      </a:solidFill>
                    </a:lnR>
                    <a:lnB w="9525">
                      <a:solidFill>
                        <a:srgbClr val="E6EDF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CB2658-7CDA-4C62-B3A3-F0F94EA6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72125"/>
            <a:ext cx="1352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How the comparison 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1A6712-B278-4911-9253-D72F1EAD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34100"/>
            <a:ext cx="135255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Maximum-rank loop time excludes startup, planning and final read-back.</a:t>
            </a:r>
          </a:p>
          <a:p xmlns:a="http://schemas.openxmlformats.org/drawingml/2006/main">
            <a: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Balanced process pairs keep work and rank layout fixed within each pair.</a:t>
            </a:r>
          </a:p>
          <a:p xmlns:a="http://schemas.openxmlformats.org/drawingml/2006/main">
            <a: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One rank per physical core. Slurm/Open MPI uses the saved UCX fabric policy.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73940-53E5-49B9-A44D-05BE0047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562850"/>
            <a:ext cx="1352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673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536673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536673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536673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536673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536673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536673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536673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536673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53667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3"/>
                </a:solidFill>
                <a:latin typeface="Helvetica Neue"/>
                <a:ea typeface="Helvetica Neue"/>
                <a:cs typeface="Helvetica Neue"/>
              </a:rPr>
              <a:t>Exact sizes, runtime settings and build treatment await original-record verification.</a:t>
            </a:r>
          </a:p>
        </p:txBody>
      </p:sp>
    </p:spTree>
    <p:extLst>
      <p:ext uri="{BB962C8B-B14F-4D97-AF65-F5344CB8AC3E}">
        <p14:creationId xmlns:p14="http://schemas.microsoft.com/office/powerpoint/2010/main" val="5410221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546AB8-EC3D-400B-829D-3AEF6092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352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Time interpretation and next tests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EDD53-BE56-4325-81D3-F6321727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352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Small point estimates warrant further checks before a deployment decision.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44207C-8FB0-49DD-9918-81850E2D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Percentages and elapsed 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621BAD-6038-46A6-8347-E96CC609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05075"/>
            <a:ext cx="6191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Change = 100 x (full/reference - 1).</a:t>
            </a:r>
          </a:p>
          <a:p xmlns:a="http://schemas.openxmlformats.org/drawingml/2006/main">
            <a: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Positive: slower. Negative: faster.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950A57-44C9-4588-9E26-39AB744D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Example only: a 12-hour reference job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46A7BA-FB10-4D33-A0DC-F2AF33B2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43375"/>
            <a:ext cx="619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At +1%: 7 min 12 sec longer.</a:t>
            </a:r>
          </a:p>
          <a:p xmlns:a="http://schemas.openxmlformats.org/drawingml/2006/main">
            <a:pPr>
              <a:defRPr sz="21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At -1%: 7 min 12 sec shorter.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CE00F3-0E5C-462D-8268-CE2B61B8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76850"/>
            <a:ext cx="619125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This assumes the same workload mix and a</a:t>
            </a:r>
          </a:p>
          <a:p xmlns:a="http://schemas.openxmlformats.org/drawingml/2006/main">
            <a: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sustained effect across the whole job.</a:t>
            </a:r>
          </a:p>
          <a:p xmlns:a="http://schemas.openxmlformats.org/drawingml/2006/main">
            <a: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Longer jobs accumulate more seconds.</a:t>
            </a:r>
          </a:p>
          <a:p xmlns:a="http://schemas.openxmlformats.org/drawingml/2006/main">
            <a: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The percentage stays the same.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CE6E16-B1E9-48AC-B29A-F713BA3C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34225"/>
            <a:ext cx="619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673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536673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536673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536673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536673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536673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536673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536673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536673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53667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3"/>
                </a:solidFill>
                <a:latin typeface="Helvetica Neue"/>
                <a:ea typeface="Helvetica Neue"/>
                <a:cs typeface="Helvetica Neue"/>
              </a:rPr>
              <a:t>The photos do not establish actual test duration.</a:t>
            </a:r>
          </a:p>
          <a:p xmlns:a="http://schemas.openxmlformats.org/drawingml/2006/main">
            <a:pPr>
              <a:defRPr sz="1800" b="0">
                <a:solidFill>
                  <a:srgbClr val="53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3"/>
                </a:solidFill>
                <a:latin typeface="Helvetica Neue"/>
                <a:ea typeface="Helvetica Neue"/>
                <a:cs typeface="Helvetica Neue"/>
              </a:rPr>
              <a:t>These time examples are conditional arithmetic.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734F24-FECE-4827-845E-A2068923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43100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Follow-up coverage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E4DF72-26FF-4677-98B8-B66CDF49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43175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9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9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9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9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9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9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9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9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9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Build verification and deployment comparison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400AE1-B3A9-49C6-AD8D-71CCF9B6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9900"/>
            <a:ext cx="647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Audit flags and raw paired records. Use one fixed</a:t>
            </a:r>
          </a:p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ordinary caller with each library stack at 20 nodes.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FA1C90-46D2-4D2A-918B-298780AB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10025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9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9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9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9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9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9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9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9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9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FFT grids and sustained 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330D3-74AF-4115-B637-600094CF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76750"/>
            <a:ext cx="647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Vary transform sizes and loop duration. Check</a:t>
            </a:r>
          </a:p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whether any effect persists as work increases.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28077C-07A2-43F5-AA74-E5630F8F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476875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9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9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9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9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9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9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9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9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9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I/O patterns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E8BABC-BAA4-4B12-8C7D-81CACD15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943600"/>
            <a:ext cx="647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Vary checkpoint size, cadence and read/write mix.</a:t>
            </a:r>
          </a:p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Cold-cache and durable-storage cost remain open.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B01B0E-FC1D-4DC0-9274-EFAFFA0D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943725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9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9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9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9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9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9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9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9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9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MPI and repeatability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E778D3-9CBB-416B-BFDA-E04AC009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741045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Add OSU. Repeat in independent allocations.</a:t>
            </a:r>
          </a:p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Whole-application impact still needs evidence.</a:t>
            </a:r>
          </a:p>
        </p:txBody>
      </p:sp>
    </p:spTree>
    <p:extLst>
      <p:ext uri="{BB962C8B-B14F-4D97-AF65-F5344CB8AC3E}">
        <p14:creationId xmlns:p14="http://schemas.microsoft.com/office/powerpoint/2010/main" val="12823765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2026-10-21T14:19:39.4410000Z</dcterms:created>
  <dcterms:modified xsi:type="dcterms:W3CDTF">2026-10-21T14:19:39.4410000Z</dcterms:modified>
</coreProperties>
</file>